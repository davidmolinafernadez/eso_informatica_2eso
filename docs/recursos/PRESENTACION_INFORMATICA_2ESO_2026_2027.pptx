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a3e456c9044c5b" /><Relationship Type="http://schemas.openxmlformats.org/officeDocument/2006/relationships/extended-properties" Target="/docProps/app.xml" Id="R36e5e6155c264387" /><Relationship Type="http://schemas.openxmlformats.org/officeDocument/2006/relationships/officeDocument" Target="/ppt/presentation.xml" Id="R485d6aee2aff44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65ae1ba51b49df"/>
  </p:sldMasterIdLst>
  <p:notesMasterIdLst>
    <p:notesMasterId xmlns:r="http://schemas.openxmlformats.org/officeDocument/2006/relationships" r:id="R8c639107a0bb4561"/>
  </p:notesMasterIdLst>
  <p:sldIdLst>
    <p:sldId xmlns:r="http://schemas.openxmlformats.org/officeDocument/2006/relationships" id="256" r:id="R4b8ea899397b48d5"/>
    <p:sldId xmlns:r="http://schemas.openxmlformats.org/officeDocument/2006/relationships" id="257" r:id="R1afb361a2dc5418b"/>
    <p:sldId xmlns:r="http://schemas.openxmlformats.org/officeDocument/2006/relationships" id="258" r:id="Refe382c27ca84014"/>
    <p:sldId xmlns:r="http://schemas.openxmlformats.org/officeDocument/2006/relationships" id="259" r:id="R77d32bd3b3aa4ab3"/>
    <p:sldId xmlns:r="http://schemas.openxmlformats.org/officeDocument/2006/relationships" id="260" r:id="R65fccbc417964d74"/>
    <p:sldId xmlns:r="http://schemas.openxmlformats.org/officeDocument/2006/relationships" id="261" r:id="R72092242882d479e"/>
    <p:sldId xmlns:r="http://schemas.openxmlformats.org/officeDocument/2006/relationships" id="262" r:id="Rc0f0eccc650d4529"/>
    <p:sldId xmlns:r="http://schemas.openxmlformats.org/officeDocument/2006/relationships" id="263" r:id="R6a0bf4a0faeb4e3a"/>
    <p:sldId xmlns:r="http://schemas.openxmlformats.org/officeDocument/2006/relationships" id="264" r:id="R71d3fca70cf24656"/>
    <p:sldId xmlns:r="http://schemas.openxmlformats.org/officeDocument/2006/relationships" id="265" r:id="Rd83caaf40c68401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253aef3f624a09" /><Relationship Type="http://schemas.openxmlformats.org/officeDocument/2006/relationships/slideMaster" Target="/ppt/slideMasters/slideMaster1.xml" Id="R4865ae1ba51b49df" /><Relationship Type="http://schemas.openxmlformats.org/officeDocument/2006/relationships/notesMaster" Target="/ppt/notesMasters/notesMaster1.xml" Id="R8c639107a0bb4561" /><Relationship Type="http://schemas.openxmlformats.org/officeDocument/2006/relationships/presProps" Target="/ppt/presProps.xml" Id="R0af97bf0e8f648d9" /><Relationship Type="http://schemas.openxmlformats.org/officeDocument/2006/relationships/viewProps" Target="/ppt/viewProps.xml" Id="Rcbaee8b024da4fcf" /><Relationship Type="http://schemas.openxmlformats.org/officeDocument/2006/relationships/tableStyles" Target="/ppt/tableStyles.xml" Id="Rea7228742f594fe9" /><Relationship Type="http://schemas.openxmlformats.org/officeDocument/2006/relationships/slide" Target="/ppt/slides/slide1.xml" Id="R4b8ea899397b48d5" /><Relationship Type="http://schemas.openxmlformats.org/officeDocument/2006/relationships/slide" Target="/ppt/slides/slide2.xml" Id="R1afb361a2dc5418b" /><Relationship Type="http://schemas.openxmlformats.org/officeDocument/2006/relationships/slide" Target="/ppt/slides/slide3.xml" Id="Refe382c27ca84014" /><Relationship Type="http://schemas.openxmlformats.org/officeDocument/2006/relationships/slide" Target="/ppt/slides/slide4.xml" Id="R77d32bd3b3aa4ab3" /><Relationship Type="http://schemas.openxmlformats.org/officeDocument/2006/relationships/slide" Target="/ppt/slides/slide5.xml" Id="R65fccbc417964d74" /><Relationship Type="http://schemas.openxmlformats.org/officeDocument/2006/relationships/slide" Target="/ppt/slides/slide6.xml" Id="R72092242882d479e" /><Relationship Type="http://schemas.openxmlformats.org/officeDocument/2006/relationships/slide" Target="/ppt/slides/slide7.xml" Id="Rc0f0eccc650d4529" /><Relationship Type="http://schemas.openxmlformats.org/officeDocument/2006/relationships/slide" Target="/ppt/slides/slide8.xml" Id="R6a0bf4a0faeb4e3a" /><Relationship Type="http://schemas.openxmlformats.org/officeDocument/2006/relationships/slide" Target="/ppt/slides/slide9.xml" Id="R71d3fca70cf24656" /><Relationship Type="http://schemas.openxmlformats.org/officeDocument/2006/relationships/slide" Target="/ppt/slides/slide10.xml" Id="Rd83caaf40c6840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5a367680bc45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d31fc672294415" /><Relationship Type="http://schemas.openxmlformats.org/officeDocument/2006/relationships/notesMaster" Target="/ppt/notesMasters/notesMaster1.xml" Id="Raff17843314742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8e6bdd5d7047c9" /><Relationship Type="http://schemas.openxmlformats.org/officeDocument/2006/relationships/notesMaster" Target="/ppt/notesMasters/notesMaster1.xml" Id="Ra2346c3ff0b243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760aa1e0864c66" /><Relationship Type="http://schemas.openxmlformats.org/officeDocument/2006/relationships/notesMaster" Target="/ppt/notesMasters/notesMaster1.xml" Id="Ra077637ae73e43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37980822a84e42" /><Relationship Type="http://schemas.openxmlformats.org/officeDocument/2006/relationships/notesMaster" Target="/ppt/notesMasters/notesMaster1.xml" Id="Rad256f08b0494ea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4d4cfee22c46db" /><Relationship Type="http://schemas.openxmlformats.org/officeDocument/2006/relationships/notesMaster" Target="/ppt/notesMasters/notesMaster1.xml" Id="R1ded41a68a0e4f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45e98346774309" /><Relationship Type="http://schemas.openxmlformats.org/officeDocument/2006/relationships/notesMaster" Target="/ppt/notesMasters/notesMaster1.xml" Id="Rd5746ef801ae46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58f256f34184716" /><Relationship Type="http://schemas.openxmlformats.org/officeDocument/2006/relationships/notesMaster" Target="/ppt/notesMasters/notesMaster1.xml" Id="Rb6089d5dacc946e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e1e8b5370e44a55" /><Relationship Type="http://schemas.openxmlformats.org/officeDocument/2006/relationships/notesMaster" Target="/ppt/notesMasters/notesMaster1.xml" Id="R54914141b604464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e55f4716e0f473d" /><Relationship Type="http://schemas.openxmlformats.org/officeDocument/2006/relationships/notesMaster" Target="/ppt/notesMasters/notesMaster1.xml" Id="R3a4ec8bc1f20498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b39ee135d1d4bb4" /><Relationship Type="http://schemas.openxmlformats.org/officeDocument/2006/relationships/notesMaster" Target="/ppt/notesMasters/notesMaster1.xml" Id="Redba62ee11f94a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Imagen de portada generada para esta presentación con OpenAI ImageGen (2026).</a:t>
            </a:r>
          </a:p>
          <a:p xmlns:a="http://schemas.openxmlformats.org/drawingml/2006/main">
            <a:r>
              <a:t>- Sistemes Informàtics 25-26_Presentacio.pdf (material docente de referencia aportado por el usuario).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Guia_didactica_25_26.pdf, apartados 1–3 (competencias y resultados de aprendizaje).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Guia_didactica_25_26.pdf, temporalización: 160 h.</a:t>
            </a:r>
          </a:p>
          <a:p xmlns:a="http://schemas.openxmlformats.org/drawingml/2006/main">
            <a:r>
              <a:t>- HORARIS 26-27 - 0720_MOLINA,DAVID.pdf: SI de 1.º DAM, 5 sesiones de 55 min = 275 min = 4 h 35 min semanales.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HORARIS 26-27 - 0720_MOLINA,DAVID.pdf: horario oficial de SI, grupo CS.DAM-1, aula C-1-2.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Guia_didactica_25_26.pdf, apartados 3 y 4 (unidades y temporalización).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Guia_didactica_25_26.pdf, apartado 5 (material y metodología).</a:t>
            </a:r>
          </a:p>
          <a:p xmlns:a="http://schemas.openxmlformats.org/drawingml/2006/main">
            <a:r>
              <a:t>- Sistemes Informàtics 25-26_Presentacio.pdf, diapositivas 14 y 20 (documentación y evidencias).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Guia_didactica_25_26.pdf, apartado 5.1 (software previsto).</a:t>
            </a:r>
          </a:p>
          <a:p xmlns:a="http://schemas.openxmlformats.org/drawingml/2006/main">
            <a:r>
              <a:t>- Ilustración propia de placa base creada para los materiales de UD1 con OpenAI ImageGen (2026).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Sistemes Informàtics 25-26_Presentacio.pdf, diapositiva 9 (ponderación 70/30).</a:t>
            </a:r>
          </a:p>
          <a:p xmlns:a="http://schemas.openxmlformats.org/drawingml/2006/main">
            <a:r>
              <a:t>- Guia_didactica_25_26.pdf, apartado 6 (evaluación y obligatoriedad de prácticas).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Sistemes Informàtics 25-26_Presentacio.pdf, diapositiva 9 (mínimos y requisitos).</a:t>
            </a:r>
          </a:p>
          <a:p xmlns:a="http://schemas.openxmlformats.org/drawingml/2006/main">
            <a:r>
              <a:t>- Guia_didactica_25_26.pdf, apartado 6 (evaluación ordinaria y extraordinaria).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Sistemes Informàtics 25-26_Presentacio.pdf, diapositiva 16 (normas de aula, RGPD, plagio y uso de IA).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0ec3c2557e45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9992b920324392" /><Relationship Type="http://schemas.openxmlformats.org/officeDocument/2006/relationships/slideLayout" Target="/ppt/slideLayouts/slideLayout1.xml" Id="R0aade2fb1fdc43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ade2fb1fdc43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cbcc2c09944822" /><Relationship Type="http://schemas.openxmlformats.org/officeDocument/2006/relationships/image" Target="/ppt/media/image.png" Id="R7ef2588bd1924b0a" /><Relationship Type="http://schemas.openxmlformats.org/officeDocument/2006/relationships/notesSlide" Target="/ppt/notesSlides/notesSlide1.xml" Id="R29178df6052444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7cfb78e98f41f6" /><Relationship Type="http://schemas.openxmlformats.org/officeDocument/2006/relationships/notesSlide" Target="/ppt/notesSlides/notesSlide2.xml" Id="R33f6e2dd99904a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3f2f75bef341cc" /><Relationship Type="http://schemas.openxmlformats.org/officeDocument/2006/relationships/notesSlide" Target="/ppt/notesSlides/notesSlide3.xml" Id="R49eea0c096aa4d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43cfad9dcd4886" /><Relationship Type="http://schemas.openxmlformats.org/officeDocument/2006/relationships/notesSlide" Target="/ppt/notesSlides/notesSlide4.xml" Id="Rb9e817ce0c1f4bb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e8bc9578d34e79" /><Relationship Type="http://schemas.openxmlformats.org/officeDocument/2006/relationships/notesSlide" Target="/ppt/notesSlides/notesSlide5.xml" Id="R772c139a53e6448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99ae68deea4d81" /><Relationship Type="http://schemas.openxmlformats.org/officeDocument/2006/relationships/notesSlide" Target="/ppt/notesSlides/notesSlide6.xml" Id="R38351428a79e4f7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e2f82c0a39460e" /><Relationship Type="http://schemas.openxmlformats.org/officeDocument/2006/relationships/image" Target="/ppt/media/image2.png" Id="R6485f8b1aa654120" /><Relationship Type="http://schemas.openxmlformats.org/officeDocument/2006/relationships/notesSlide" Target="/ppt/notesSlides/notesSlide7.xml" Id="R6f667935c51348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8f5b96e00d41d6" /><Relationship Type="http://schemas.openxmlformats.org/officeDocument/2006/relationships/notesSlide" Target="/ppt/notesSlides/notesSlide8.xml" Id="R1e6bf7815f42428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1bb21499924bbf" /><Relationship Type="http://schemas.openxmlformats.org/officeDocument/2006/relationships/notesSlide" Target="/ppt/notesSlides/notesSlide9.xml" Id="Rbdc61e8441a342c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3baf32b459450e" /><Relationship Type="http://schemas.openxmlformats.org/officeDocument/2006/relationships/notesSlide" Target="/ppt/notesSlides/notesSlide10.xml" Id="R8c64542ec46a45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Imagen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f2588bd1924b0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D2B36EA8-CD59-44EB-82C8-84D0E89F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57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>
              <a:alpha val="9098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047957E7-3134-4D0A-B2FD-CB19C436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5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429CA0BD-E935-4192-B286-35100F06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5524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INFORMÁTICA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B99BE5C6-6172-489B-B9AA-34B3C15B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2C7E8"/>
                </a:solidFill>
              </a:defRPr>
            </a:pPr>
            <a:r>
              <a:rPr sz="1950" b="1">
                <a:solidFill>
                  <a:srgbClr val="22C7E8"/>
                </a:solidFill>
              </a:rPr>
              <a:t>Aprender creando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BCC87F70-3010-4F70-AC9E-18AB8D3B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338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2.º ESO · Curso 2026–2027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AE9DFE0B-39A1-4DB4-BD35-5AB9F848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9D7E4"/>
                </a:solidFill>
              </a:defRPr>
            </a:pPr>
            <a:r>
              <a:rPr sz="1350" b="0">
                <a:solidFill>
                  <a:srgbClr val="B9D7E4"/>
                </a:solidFill>
              </a:rPr>
              <a:t>Proyectos · Actividades · Ciudadanía digital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4CCD6A63-BC52-4995-A57B-8651389E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9D7E4"/>
                </a:solidFill>
              </a:defRPr>
            </a:pPr>
            <a:r>
              <a:rPr sz="1050" b="1">
                <a:solidFill>
                  <a:srgbClr val="B9D7E4"/>
                </a:solidFill>
              </a:rPr>
              <a:t>Presentación de la asignatura</a:t>
            </a:r>
          </a:p>
        </p:txBody>
      </p:sp>
    </p:spTree>
    <p:extLst>
      <p:ext uri="{BB962C8B-B14F-4D97-AF65-F5344CB8AC3E}">
        <p14:creationId xmlns:p14="http://schemas.microsoft.com/office/powerpoint/2010/main" val="9029212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4E2381E2-2598-4657-AEA2-55A70CF4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A84C6"/>
                </a:solidFill>
              </a:defRPr>
            </a:pPr>
            <a:r>
              <a:rPr sz="1050" b="1">
                <a:solidFill>
                  <a:srgbClr val="0A84C6"/>
                </a:solidFill>
              </a:rPr>
              <a:t>01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BC9401F6-06D0-425D-82C9-91510D6C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63A"/>
                </a:solidFill>
              </a:defRPr>
            </a:pPr>
            <a:r>
              <a:rPr sz="2700" b="1">
                <a:solidFill>
                  <a:srgbClr val="10263A"/>
                </a:solidFill>
              </a:rPr>
              <a:t>Una asignatura para comprender y crear con tecnología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A6B37101-5941-40F9-8F83-A91C80BB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7184"/>
                </a:solidFill>
              </a:defRPr>
            </a:pPr>
            <a:r>
              <a:rPr sz="1350" b="0">
                <a:solidFill>
                  <a:srgbClr val="587184"/>
                </a:solidFill>
              </a:rPr>
              <a:t>Cada unidad combina explicaciones, actividades puntuables y un proyecto que demuestra lo aprendido.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DB2D8E60-D17D-4644-8197-9AABD3FF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AE6379D0-9DF4-4CAA-94F4-3A26927E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33600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5A524"/>
                </a:solidFill>
              </a:defRPr>
            </a:pPr>
            <a:r>
              <a:rPr sz="2550" b="1">
                <a:solidFill>
                  <a:srgbClr val="F5A524"/>
                </a:solidFill>
              </a:rPr>
              <a:t>01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783BABFB-91D6-4A48-9E82-22BB105A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304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DADF0E45-3283-44DC-976D-1AFB23B96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63A"/>
                </a:solidFill>
              </a:defRPr>
            </a:pPr>
            <a:r>
              <a:rPr sz="1800" b="1">
                <a:solidFill>
                  <a:srgbClr val="10263A"/>
                </a:solidFill>
              </a:rPr>
              <a:t>COMPRENDER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6BBF4F49-1583-484F-812F-C1200926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295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87184"/>
                </a:solidFill>
              </a:defRPr>
            </a:pPr>
            <a:r>
              <a:rPr sz="1500" b="0">
                <a:solidFill>
                  <a:srgbClr val="587184"/>
                </a:solidFill>
              </a:rPr>
              <a:t>Saber qué ocurre y explicar las decisiones.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8338BF1E-AD11-46B4-93BE-BAB9B66F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33600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5A524"/>
                </a:solidFill>
              </a:defRPr>
            </a:pPr>
            <a:r>
              <a:rPr sz="2550" b="1">
                <a:solidFill>
                  <a:srgbClr val="F5A524"/>
                </a:solidFill>
              </a:rPr>
              <a:t>02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C7F4E541-3C3E-481C-BEA8-C9DC750B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24150"/>
            <a:ext cx="304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D35AC19A-9D5D-42C5-9B9C-81379B38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527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63A"/>
                </a:solidFill>
              </a:defRPr>
            </a:pPr>
            <a:r>
              <a:rPr sz="1800" b="1">
                <a:solidFill>
                  <a:srgbClr val="10263A"/>
                </a:solidFill>
              </a:rPr>
              <a:t>CREAR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938AFB3B-0FBC-4507-8474-ED1C7945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86150"/>
            <a:ext cx="295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87184"/>
                </a:solidFill>
              </a:defRPr>
            </a:pPr>
            <a:r>
              <a:rPr sz="1500" b="0">
                <a:solidFill>
                  <a:srgbClr val="587184"/>
                </a:solidFill>
              </a:rPr>
              <a:t>Construir documentos, contenidos y soluciones digitales.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F3557FAE-5A03-4018-936C-5F9E3431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33600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5A524"/>
                </a:solidFill>
              </a:defRPr>
            </a:pPr>
            <a:r>
              <a:rPr sz="2550" b="1">
                <a:solidFill>
                  <a:srgbClr val="F5A524"/>
                </a:solidFill>
              </a:rPr>
              <a:t>03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6BD8B667-6A14-43D0-A33D-54697E18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24150"/>
            <a:ext cx="304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73F829E3-8476-434A-BB74-F63DC40D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527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63A"/>
                </a:solidFill>
              </a:defRPr>
            </a:pPr>
            <a:r>
              <a:rPr sz="1800" b="1">
                <a:solidFill>
                  <a:srgbClr val="10263A"/>
                </a:solidFill>
              </a:rPr>
              <a:t>CUIDAR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848AAFC6-5283-47C0-BA7D-6B164016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86150"/>
            <a:ext cx="295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87184"/>
                </a:solidFill>
              </a:defRPr>
            </a:pPr>
            <a:r>
              <a:rPr sz="1500" b="0">
                <a:solidFill>
                  <a:srgbClr val="587184"/>
                </a:solidFill>
              </a:rPr>
              <a:t>Proteger datos, respetar autorías y convivir en Internet.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9144CF91-587C-4AC2-A143-49C08FFF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86375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A84C6"/>
                </a:solidFill>
              </a:defRPr>
            </a:pPr>
            <a:r>
              <a:rPr sz="1950" b="1">
                <a:solidFill>
                  <a:srgbClr val="0A84C6"/>
                </a:solidFill>
              </a:rPr>
              <a:t>Objetivo final: utilizar la tecnología con autonomía y responsabilidad.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CA5E4841-24F2-41A3-9422-7494CE61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87184"/>
                </a:solidFill>
              </a:defRPr>
            </a:pPr>
            <a:r>
              <a:rPr sz="900" b="0">
                <a:solidFill>
                  <a:srgbClr val="587184"/>
                </a:solidFill>
              </a:rPr>
              <a:t>Informática · 2.º ESO · 2026–2027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0C5F944E-7A5B-4EDE-B624-5A2C7FB0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87184"/>
                </a:solidFill>
              </a:defRPr>
            </a:pPr>
            <a:r>
              <a:rPr sz="900" b="1">
                <a:solidFill>
                  <a:srgbClr val="587184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569319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0353EEA7-BA86-49E0-BE93-74DE174C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C7E8"/>
                </a:solidFill>
              </a:defRPr>
            </a:pPr>
            <a:r>
              <a:rPr sz="1050" b="1">
                <a:solidFill>
                  <a:srgbClr val="22C7E8"/>
                </a:solidFill>
              </a:rPr>
              <a:t>02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4ECC38E0-A7E6-4440-9B9E-CF126313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Un curso completo con dos horas semanales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23C98144-0710-4C9E-844F-D020E08D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5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ECBCCF3C-A101-439A-847C-F65290B81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22C7E8"/>
                </a:solidFill>
              </a:defRPr>
            </a:pPr>
            <a:r>
              <a:rPr sz="3900" b="1">
                <a:solidFill>
                  <a:srgbClr val="22C7E8"/>
                </a:solidFill>
              </a:rPr>
              <a:t>66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2137DE19-0588-4256-A4DF-29F9C721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sesiones previstas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3D536FC3-7CFF-4C95-AF94-F2EF6DC0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3362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F5A524"/>
                </a:solidFill>
              </a:defRPr>
            </a:pPr>
            <a:r>
              <a:rPr sz="3900" b="1">
                <a:solidFill>
                  <a:srgbClr val="F5A524"/>
                </a:solidFill>
              </a:rPr>
              <a:t>2 h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9E9B0A36-E9BD-49F8-9885-C39A2E57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33750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cada semana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C88987D1-9B7D-4C94-BB90-729A18DF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3362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22C7E8"/>
                </a:solidFill>
              </a:defRPr>
            </a:pPr>
            <a:r>
              <a:rPr sz="3900" b="1">
                <a:solidFill>
                  <a:srgbClr val="22C7E8"/>
                </a:solidFill>
              </a:rPr>
              <a:t>7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AB8DE405-0E89-4193-AA34-5CF42643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33750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unidades didácticas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9A3D6D49-ED8B-4183-93E3-A2817F96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3362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22C7E8"/>
                </a:solidFill>
              </a:defRPr>
            </a:pPr>
            <a:r>
              <a:rPr sz="3900" b="1">
                <a:solidFill>
                  <a:srgbClr val="22C7E8"/>
                </a:solidFill>
              </a:rPr>
              <a:t>7</a:t>
            </a:r>
          </a:p>
        </p:txBody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D2D8FEDE-DDCA-47EA-9E7F-0E2BF3222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33750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proyectos de unidad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0F91D425-C58D-443C-8C2D-E959031B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2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963AA1EA-43E6-4F30-B6A6-9AF046E5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B9D7E4"/>
                </a:solidFill>
              </a:defRPr>
            </a:pPr>
            <a:r>
              <a:rPr sz="1800" b="0">
                <a:solidFill>
                  <a:srgbClr val="B9D7E4"/>
                </a:solidFill>
              </a:rPr>
              <a:t>Cada unidad termina con un producto concreto y permite mejorar después de recibir comentarios.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3F3EC6B3-6A06-4B24-8216-DCA8403F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BC5D7"/>
                </a:solidFill>
              </a:defRPr>
            </a:pPr>
            <a:r>
              <a:rPr sz="900" b="0">
                <a:solidFill>
                  <a:srgbClr val="9BC5D7"/>
                </a:solidFill>
              </a:rPr>
              <a:t>Informática · 2.º ESO · 2026–2027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472F4C2A-9A8C-46F6-A0D8-C2433A82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BC5D7"/>
                </a:solidFill>
              </a:defRPr>
            </a:pPr>
            <a:r>
              <a:rPr sz="900" b="1">
                <a:solidFill>
                  <a:srgbClr val="9BC5D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692173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723E0F86-E8F9-4D02-A052-16E4F870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A84C6"/>
                </a:solidFill>
              </a:defRPr>
            </a:pPr>
            <a:r>
              <a:rPr sz="1050" b="1">
                <a:solidFill>
                  <a:srgbClr val="0A84C6"/>
                </a:solidFill>
              </a:rPr>
              <a:t>03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8DE95E0B-9F06-4291-A2D2-B8ADCD13A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63A"/>
                </a:solidFill>
              </a:defRPr>
            </a:pPr>
            <a:r>
              <a:rPr sz="2700" b="1">
                <a:solidFill>
                  <a:srgbClr val="10263A"/>
                </a:solidFill>
              </a:rPr>
              <a:t>El trabajo semanal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2AF935F-6CA2-4DE2-BB09-5C92EC2B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7184"/>
                </a:solidFill>
              </a:defRPr>
            </a:pPr>
            <a:r>
              <a:rPr sz="1350" b="0">
                <a:solidFill>
                  <a:srgbClr val="587184"/>
                </a:solidFill>
              </a:rPr>
              <a:t>Las sesiones alternan explicación, aplicación y tiempo para revisar la entrega.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0C9A8201-03FB-4371-82E8-408755956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E3323DED-1E8C-4D59-B0F8-F637B5A4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A84C6"/>
                </a:solidFill>
              </a:defRPr>
            </a:pPr>
            <a:r>
              <a:rPr sz="1650" b="1">
                <a:solidFill>
                  <a:srgbClr val="0A84C6"/>
                </a:solidFill>
              </a:rPr>
              <a:t>PASO 1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820899A1-5D0B-47F5-BAD3-10123092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955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0263A"/>
                </a:solidFill>
              </a:defRPr>
            </a:pPr>
            <a:r>
              <a:rPr sz="1725" b="1">
                <a:solidFill>
                  <a:srgbClr val="10263A"/>
                </a:solidFill>
              </a:rPr>
              <a:t>Explicación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0E79444A-E76F-4B65-8D2C-A58EC23F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76475"/>
            <a:ext cx="3381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BDDC235A-EB2B-43FB-8CED-D49BBB7A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0955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0263A"/>
                </a:solidFill>
              </a:defRPr>
            </a:pPr>
            <a:r>
              <a:rPr sz="1725" b="1">
                <a:solidFill>
                  <a:srgbClr val="10263A"/>
                </a:solidFill>
              </a:rPr>
              <a:t>con ejemplos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A4967B05-E808-4D7F-AE0E-85399B14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09550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87184"/>
                </a:solidFill>
              </a:defRPr>
            </a:pPr>
            <a:r>
              <a:rPr sz="1275" b="1">
                <a:solidFill>
                  <a:srgbClr val="587184"/>
                </a:solidFill>
              </a:rPr>
              <a:t>comprender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906723D6-EA7C-4AB3-8096-C5DAF6CE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46B37B"/>
                </a:solidFill>
              </a:defRPr>
            </a:pPr>
            <a:r>
              <a:rPr sz="1650" b="1">
                <a:solidFill>
                  <a:srgbClr val="46B37B"/>
                </a:solidFill>
              </a:rPr>
              <a:t>PASO 2</a:t>
            </a:r>
          </a:p>
        </p:txBody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12A7FDFB-2DC7-496A-8D62-CA2C3DEE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147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0263A"/>
                </a:solidFill>
              </a:defRPr>
            </a:pPr>
            <a:r>
              <a:rPr sz="2250" b="1">
                <a:solidFill>
                  <a:srgbClr val="10263A"/>
                </a:solidFill>
              </a:rPr>
              <a:t>Actividad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1D8E4747-2779-44E4-8A90-67A5D16F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495675"/>
            <a:ext cx="3381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B3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F99C1685-D9DF-4614-9FB4-C9DE875A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3147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0263A"/>
                </a:solidFill>
              </a:defRPr>
            </a:pPr>
            <a:r>
              <a:rPr sz="2250" b="1">
                <a:solidFill>
                  <a:srgbClr val="10263A"/>
                </a:solidFill>
              </a:rPr>
              <a:t>guiada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2DAB7E50-CA0E-4990-A7CA-CFE46293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31470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87184"/>
                </a:solidFill>
              </a:defRPr>
            </a:pPr>
            <a:r>
              <a:rPr sz="1275" b="1">
                <a:solidFill>
                  <a:srgbClr val="587184"/>
                </a:solidFill>
              </a:rPr>
              <a:t>practicar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9F3FCEDD-48B3-4A87-8550-8F4A5F5F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339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5A524"/>
                </a:solidFill>
              </a:defRPr>
            </a:pPr>
            <a:r>
              <a:rPr sz="1650" b="1">
                <a:solidFill>
                  <a:srgbClr val="F5A524"/>
                </a:solidFill>
              </a:rPr>
              <a:t>PASO 3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096BAEB7-61F7-4EB1-9A4A-2605B254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339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0263A"/>
                </a:solidFill>
              </a:defRPr>
            </a:pPr>
            <a:r>
              <a:rPr sz="2250" b="1">
                <a:solidFill>
                  <a:srgbClr val="10263A"/>
                </a:solidFill>
              </a:rPr>
              <a:t>Proyecto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C1ED74DE-A1AC-4340-9D7A-24934515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714875"/>
            <a:ext cx="3381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5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7E178D18-FCB1-4D6D-BD71-BDE344838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5339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0263A"/>
                </a:solidFill>
              </a:defRPr>
            </a:pPr>
            <a:r>
              <a:rPr sz="2250" b="1">
                <a:solidFill>
                  <a:srgbClr val="10263A"/>
                </a:solidFill>
              </a:rPr>
              <a:t>por fases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E41E167E-A170-4AC8-A9C5-5B5BF18B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53390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87184"/>
                </a:solidFill>
              </a:defRPr>
            </a:pPr>
            <a:r>
              <a:rPr sz="1275" b="1">
                <a:solidFill>
                  <a:srgbClr val="587184"/>
                </a:solidFill>
              </a:rPr>
              <a:t>crear</a:t>
            </a:r>
          </a:p>
        </p:txBody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83FF724F-7FC2-42AF-BCE0-79C059AF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6578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725" b="1">
                <a:solidFill>
                  <a:srgbClr val="0A84C6"/>
                </a:solidFill>
              </a:defRPr>
            </a:pPr>
            <a:r>
              <a:rPr sz="1725" b="1">
                <a:solidFill>
                  <a:srgbClr val="0A84C6"/>
                </a:solidFill>
              </a:rPr>
              <a:t>PASO 4 · Comprobar, mejorar y entregar mediante Aules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90A4922F-C56E-486F-9AC7-7865BFEBC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87184"/>
                </a:solidFill>
              </a:defRPr>
            </a:pPr>
            <a:r>
              <a:rPr sz="900" b="0">
                <a:solidFill>
                  <a:srgbClr val="587184"/>
                </a:solidFill>
              </a:rPr>
              <a:t>Informática · 2.º ESO · 2026–2027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B1422F09-0375-4C9D-BD6C-78FA837C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87184"/>
                </a:solidFill>
              </a:defRPr>
            </a:pPr>
            <a:r>
              <a:rPr sz="900" b="1">
                <a:solidFill>
                  <a:srgbClr val="587184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779952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Rectángulo 47">
            <a:extLst xmlns:a="http://schemas.openxmlformats.org/drawingml/2006/main">
              <a:ext uri="{FF2B5EF4-FFF2-40B4-BE49-F238E27FC236}">
                <a16:creationId xmlns:a16="http://schemas.microsoft.com/office/drawing/2014/main" id="{915A6860-7B44-4C4A-A340-0D4B4648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A84C6"/>
                </a:solidFill>
              </a:defRPr>
            </a:pPr>
            <a:r>
              <a:rPr sz="1050" b="1">
                <a:solidFill>
                  <a:srgbClr val="0A84C6"/>
                </a:solidFill>
              </a:rPr>
              <a:t>04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73223C4B-6830-43B5-A214-9E416273D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63A"/>
                </a:solidFill>
              </a:defRPr>
            </a:pPr>
            <a:r>
              <a:rPr sz="2700" b="1">
                <a:solidFill>
                  <a:srgbClr val="10263A"/>
                </a:solidFill>
              </a:rPr>
              <a:t>Las unidades del curso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A2EEAC1E-D8C7-4134-8574-879B772F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7184"/>
                </a:solidFill>
              </a:defRPr>
            </a:pPr>
            <a:r>
              <a:rPr sz="1350" b="0">
                <a:solidFill>
                  <a:srgbClr val="587184"/>
                </a:solidFill>
              </a:rPr>
              <a:t>El recorrido avanza desde la organización personal hasta la creación de una solución digital.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D531A8E8-5C1C-4222-82D8-AE631C6B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ectángulo: esquinas redondeadas 4">
            <a:extLst xmlns:a="http://schemas.openxmlformats.org/drawingml/2006/main">
              <a:ext uri="{FF2B5EF4-FFF2-40B4-BE49-F238E27FC236}">
                <a16:creationId xmlns:a16="http://schemas.microsoft.com/office/drawing/2014/main" id="{178D6926-2D5C-418F-8660-F595979EA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1381125" cy="180975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5DF"/>
            </a:solidFill>
            <a:prstDash val="solid"/>
          </a:ln>
        </p:spPr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DC1BC2A1-0F0B-4F82-A7BD-A3885D84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13811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5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8E78238A-335B-4A0B-A80F-811C710A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19375"/>
            <a:ext cx="1114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5A524"/>
                </a:solidFill>
              </a:defRPr>
            </a:pPr>
            <a:r>
              <a:rPr sz="1350" b="1">
                <a:solidFill>
                  <a:srgbClr val="F5A524"/>
                </a:solidFill>
              </a:rPr>
              <a:t>01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80678CA-7AA5-40C2-902C-0F5DE462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0375"/>
            <a:ext cx="11144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63A"/>
                </a:solidFill>
              </a:defRPr>
            </a:pPr>
            <a:r>
              <a:rPr sz="1350" b="1">
                <a:solidFill>
                  <a:srgbClr val="10263A"/>
                </a:solidFill>
              </a:rPr>
              <a:t>Uso del ordenador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994500A6-5B5B-47C7-824C-6FF25380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14750"/>
            <a:ext cx="1114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87184"/>
                </a:solidFill>
              </a:defRPr>
            </a:pPr>
            <a:r>
              <a:rPr sz="1200" b="1">
                <a:solidFill>
                  <a:srgbClr val="587184"/>
                </a:solidFill>
              </a:rPr>
              <a:t>3 semanas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422C8E44-74B2-43B0-8A6F-05E810D8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333625"/>
            <a:ext cx="1381125" cy="180975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5DF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A677AA4C-92B8-4592-992E-5E6DCBA7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333625"/>
            <a:ext cx="13811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875FA003-A262-46BA-A132-757136B5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619375"/>
            <a:ext cx="1114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A84C6"/>
                </a:solidFill>
              </a:defRPr>
            </a:pPr>
            <a:r>
              <a:rPr sz="1350" b="1">
                <a:solidFill>
                  <a:srgbClr val="0A84C6"/>
                </a:solidFill>
              </a:rPr>
              <a:t>02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2BCA2868-B92E-47C3-A56F-AC0E11DC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000375"/>
            <a:ext cx="11144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63A"/>
                </a:solidFill>
              </a:defRPr>
            </a:pPr>
            <a:r>
              <a:rPr sz="1350" b="1">
                <a:solidFill>
                  <a:srgbClr val="10263A"/>
                </a:solidFill>
              </a:rPr>
              <a:t>Procesador de textos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AF01D233-C8B0-4AB5-8221-C4B8BEE5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714750"/>
            <a:ext cx="1114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87184"/>
                </a:solidFill>
              </a:defRPr>
            </a:pPr>
            <a:r>
              <a:rPr sz="1200" b="1">
                <a:solidFill>
                  <a:srgbClr val="587184"/>
                </a:solidFill>
              </a:rPr>
              <a:t>5 semanas</a:t>
            </a:r>
          </a:p>
        </p:txBody>
      </p:sp>
      <p:sp>
        <p:nvSpPr>
          <p:cNvPr id="15" name="Rectángulo: esquinas redondeadas 14">
            <a:extLst xmlns:a="http://schemas.openxmlformats.org/drawingml/2006/main">
              <a:ext uri="{FF2B5EF4-FFF2-40B4-BE49-F238E27FC236}">
                <a16:creationId xmlns:a16="http://schemas.microsoft.com/office/drawing/2014/main" id="{DDD5DCD8-2FD1-493B-856E-E6AD3F6F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33625"/>
            <a:ext cx="1381125" cy="180975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5DF"/>
            </a:solidFill>
            <a:prstDash val="solid"/>
          </a:ln>
        </p:spPr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559B2619-4B71-4454-8DD1-C3B9ED0D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33625"/>
            <a:ext cx="13811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6CC1D400-6110-40B2-A274-44858F57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619375"/>
            <a:ext cx="1114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2C7E8"/>
                </a:solidFill>
              </a:defRPr>
            </a:pPr>
            <a:r>
              <a:rPr sz="1350" b="1">
                <a:solidFill>
                  <a:srgbClr val="22C7E8"/>
                </a:solidFill>
              </a:rPr>
              <a:t>03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691F3BE1-95CA-499D-96FF-25C43B2B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00375"/>
            <a:ext cx="11144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63A"/>
                </a:solidFill>
              </a:defRPr>
            </a:pPr>
            <a:r>
              <a:rPr sz="1350" b="1">
                <a:solidFill>
                  <a:srgbClr val="10263A"/>
                </a:solidFill>
              </a:rPr>
              <a:t>Hojas de cálculo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995D0418-2053-45C9-B496-29DB91F5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714750"/>
            <a:ext cx="1114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87184"/>
                </a:solidFill>
              </a:defRPr>
            </a:pPr>
            <a:r>
              <a:rPr sz="1200" b="1">
                <a:solidFill>
                  <a:srgbClr val="587184"/>
                </a:solidFill>
              </a:rPr>
              <a:t>5 semanas</a:t>
            </a:r>
          </a:p>
        </p:txBody>
      </p:sp>
      <p:sp>
        <p:nvSpPr>
          <p:cNvPr id="20" name="Rectángulo: esquinas redondeadas 19">
            <a:extLst xmlns:a="http://schemas.openxmlformats.org/drawingml/2006/main">
              <a:ext uri="{FF2B5EF4-FFF2-40B4-BE49-F238E27FC236}">
                <a16:creationId xmlns:a16="http://schemas.microsoft.com/office/drawing/2014/main" id="{9A96F713-47E0-4EB4-9938-95A48659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33625"/>
            <a:ext cx="1381125" cy="180975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5DF"/>
            </a:solidFill>
            <a:prstDash val="solid"/>
          </a:ln>
        </p:spPr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6D64907B-4EC4-49E6-84F3-D13B07DF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33625"/>
            <a:ext cx="13811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B3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CA67E6FA-0C39-4E71-AE57-EC41E8A3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619375"/>
            <a:ext cx="1114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6B37B"/>
                </a:solidFill>
              </a:defRPr>
            </a:pPr>
            <a:r>
              <a:rPr sz="1350" b="1">
                <a:solidFill>
                  <a:srgbClr val="46B37B"/>
                </a:solidFill>
              </a:rPr>
              <a:t>04</a:t>
            </a:r>
          </a:p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7F2D5839-A3E0-4133-B609-A8FC4D1B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000375"/>
            <a:ext cx="11144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63A"/>
                </a:solidFill>
              </a:defRPr>
            </a:pPr>
            <a:r>
              <a:rPr sz="1350" b="1">
                <a:solidFill>
                  <a:srgbClr val="10263A"/>
                </a:solidFill>
              </a:rPr>
              <a:t>Presentaciones digitales</a:t>
            </a:r>
          </a:p>
        </p:txBody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C2735DC8-CB7B-4526-8091-AB47FD33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714750"/>
            <a:ext cx="1114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87184"/>
                </a:solidFill>
              </a:defRPr>
            </a:pPr>
            <a:r>
              <a:rPr sz="1200" b="1">
                <a:solidFill>
                  <a:srgbClr val="587184"/>
                </a:solidFill>
              </a:rPr>
              <a:t>4 semanas</a:t>
            </a:r>
          </a:p>
        </p:txBody>
      </p:sp>
      <p:sp>
        <p:nvSpPr>
          <p:cNvPr id="25" name="Rectángulo: esquinas redondeadas 24">
            <a:extLst xmlns:a="http://schemas.openxmlformats.org/drawingml/2006/main">
              <a:ext uri="{FF2B5EF4-FFF2-40B4-BE49-F238E27FC236}">
                <a16:creationId xmlns:a16="http://schemas.microsoft.com/office/drawing/2014/main" id="{D06EB8EF-6178-4819-9AE4-F4852D36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33625"/>
            <a:ext cx="1381125" cy="180975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5DF"/>
            </a:solidFill>
            <a:prstDash val="solid"/>
          </a:ln>
        </p:spPr>
      </p:sp>
      <p:sp>
        <p:nvSpPr>
          <p:cNvPr id="26" name="Rectángulo 25">
            <a:extLst xmlns:a="http://schemas.openxmlformats.org/drawingml/2006/main">
              <a:ext uri="{FF2B5EF4-FFF2-40B4-BE49-F238E27FC236}">
                <a16:creationId xmlns:a16="http://schemas.microsoft.com/office/drawing/2014/main" id="{6593761F-DD3F-4A05-A03E-758A3F16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33625"/>
            <a:ext cx="13811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DFE4E8E9-2623-4460-8748-0B110287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619375"/>
            <a:ext cx="1114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A84C6"/>
                </a:solidFill>
              </a:defRPr>
            </a:pPr>
            <a:r>
              <a:rPr sz="1350" b="1">
                <a:solidFill>
                  <a:srgbClr val="0A84C6"/>
                </a:solidFill>
              </a:rPr>
              <a:t>05</a:t>
            </a:r>
          </a:p>
        </p:txBody>
      </p:sp>
      <p:sp>
        <p:nvSpPr>
          <p:cNvPr id="28" name="Rectángulo 27">
            <a:extLst xmlns:a="http://schemas.openxmlformats.org/drawingml/2006/main">
              <a:ext uri="{FF2B5EF4-FFF2-40B4-BE49-F238E27FC236}">
                <a16:creationId xmlns:a16="http://schemas.microsoft.com/office/drawing/2014/main" id="{708A7108-AAB4-439B-B4BE-68E04AF0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000375"/>
            <a:ext cx="11144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63A"/>
                </a:solidFill>
              </a:defRPr>
            </a:pPr>
            <a:r>
              <a:rPr sz="1350" b="1">
                <a:solidFill>
                  <a:srgbClr val="10263A"/>
                </a:solidFill>
              </a:rPr>
              <a:t>Fundamentos de IA</a:t>
            </a:r>
          </a:p>
        </p:txBody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BD1B7358-F175-4ABC-8EB6-F69AE3BA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714750"/>
            <a:ext cx="1114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87184"/>
                </a:solidFill>
              </a:defRPr>
            </a:pPr>
            <a:r>
              <a:rPr sz="1200" b="1">
                <a:solidFill>
                  <a:srgbClr val="587184"/>
                </a:solidFill>
              </a:rPr>
              <a:t>4 semanas</a:t>
            </a:r>
          </a:p>
        </p:txBody>
      </p:sp>
      <p:sp>
        <p:nvSpPr>
          <p:cNvPr id="30" name="Rectángulo: esquinas redondeadas 29">
            <a:extLst xmlns:a="http://schemas.openxmlformats.org/drawingml/2006/main">
              <a:ext uri="{FF2B5EF4-FFF2-40B4-BE49-F238E27FC236}">
                <a16:creationId xmlns:a16="http://schemas.microsoft.com/office/drawing/2014/main" id="{280A81F0-30FA-4CC0-B2D9-CF168456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33625"/>
            <a:ext cx="1381125" cy="180975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5DF"/>
            </a:solidFill>
            <a:prstDash val="solid"/>
          </a:ln>
        </p:spPr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9FF5B406-A04F-4B66-807B-0453E606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33625"/>
            <a:ext cx="13811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5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806F4BDD-9800-4921-8796-FB2AB080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19375"/>
            <a:ext cx="1114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5A524"/>
                </a:solidFill>
              </a:defRPr>
            </a:pPr>
            <a:r>
              <a:rPr sz="1350" b="1">
                <a:solidFill>
                  <a:srgbClr val="F5A524"/>
                </a:solidFill>
              </a:rPr>
              <a:t>06</a:t>
            </a:r>
          </a:p>
        </p:txBody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CC9CBF58-0836-4210-9247-C463F126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00375"/>
            <a:ext cx="11144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63A"/>
                </a:solidFill>
              </a:defRPr>
            </a:pPr>
            <a:r>
              <a:rPr sz="1350" b="1">
                <a:solidFill>
                  <a:srgbClr val="10263A"/>
                </a:solidFill>
              </a:rPr>
              <a:t>IA aplicada y ética</a:t>
            </a:r>
          </a:p>
        </p:txBody>
      </p:sp>
      <p:sp>
        <p:nvSpPr>
          <p:cNvPr id="34" name="Rectángulo 33">
            <a:extLst xmlns:a="http://schemas.openxmlformats.org/drawingml/2006/main">
              <a:ext uri="{FF2B5EF4-FFF2-40B4-BE49-F238E27FC236}">
                <a16:creationId xmlns:a16="http://schemas.microsoft.com/office/drawing/2014/main" id="{D9D29868-30EF-4EC6-83D8-EE316F49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714750"/>
            <a:ext cx="1114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87184"/>
                </a:solidFill>
              </a:defRPr>
            </a:pPr>
            <a:r>
              <a:rPr sz="1200" b="1">
                <a:solidFill>
                  <a:srgbClr val="587184"/>
                </a:solidFill>
              </a:rPr>
              <a:t>5 semanas</a:t>
            </a:r>
          </a:p>
        </p:txBody>
      </p:sp>
      <p:sp>
        <p:nvSpPr>
          <p:cNvPr id="35" name="Rectángulo: esquinas redondeadas 34">
            <a:extLst xmlns:a="http://schemas.openxmlformats.org/drawingml/2006/main">
              <a:ext uri="{FF2B5EF4-FFF2-40B4-BE49-F238E27FC236}">
                <a16:creationId xmlns:a16="http://schemas.microsoft.com/office/drawing/2014/main" id="{53009763-56E3-472E-B609-FE6273EB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33625"/>
            <a:ext cx="1381125" cy="180975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5DF"/>
            </a:solidFill>
            <a:prstDash val="solid"/>
          </a:ln>
        </p:spPr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90C78985-5C02-4530-836E-1F38F1B3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33625"/>
            <a:ext cx="13811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F01A436C-4B6E-49A8-9B0D-AEDB6293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619375"/>
            <a:ext cx="1114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63A"/>
                </a:solidFill>
              </a:defRPr>
            </a:pPr>
            <a:r>
              <a:rPr sz="1350" b="1">
                <a:solidFill>
                  <a:srgbClr val="10263A"/>
                </a:solidFill>
              </a:rPr>
              <a:t>07</a:t>
            </a:r>
          </a:p>
        </p:txBody>
      </p:sp>
      <p:sp>
        <p:nvSpPr>
          <p:cNvPr id="38" name="Rectángulo 37">
            <a:extLst xmlns:a="http://schemas.openxmlformats.org/drawingml/2006/main">
              <a:ext uri="{FF2B5EF4-FFF2-40B4-BE49-F238E27FC236}">
                <a16:creationId xmlns:a16="http://schemas.microsoft.com/office/drawing/2014/main" id="{545A7A35-624B-487E-96F9-0551CD8F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000375"/>
            <a:ext cx="11144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63A"/>
                </a:solidFill>
              </a:defRPr>
            </a:pPr>
            <a:r>
              <a:rPr sz="1350" b="1">
                <a:solidFill>
                  <a:srgbClr val="10263A"/>
                </a:solidFill>
              </a:rPr>
              <a:t>Scratch y programación</a:t>
            </a:r>
          </a:p>
        </p:txBody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413EF7A6-C6BC-4425-AB66-361D34A6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714750"/>
            <a:ext cx="1114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87184"/>
                </a:solidFill>
              </a:defRPr>
            </a:pPr>
            <a:r>
              <a:rPr sz="1200" b="1">
                <a:solidFill>
                  <a:srgbClr val="587184"/>
                </a:solidFill>
              </a:rPr>
              <a:t>7 semanas</a:t>
            </a:r>
          </a:p>
        </p:txBody>
      </p:sp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5169C20F-4689-49DE-91A1-FB1EE650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A84C6"/>
                </a:solidFill>
              </a:defRPr>
            </a:pPr>
            <a:r>
              <a:rPr sz="1650" b="1">
                <a:solidFill>
                  <a:srgbClr val="0A84C6"/>
                </a:solidFill>
              </a:rPr>
              <a:t>1</a:t>
            </a:r>
          </a:p>
        </p:txBody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8A95AA03-CB6C-450F-B7DC-24E01A9E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6863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46B37B"/>
                </a:solidFill>
              </a:defRPr>
            </a:pPr>
            <a:r>
              <a:rPr sz="1650" b="1">
                <a:solidFill>
                  <a:srgbClr val="46B37B"/>
                </a:solidFill>
              </a:rPr>
              <a:t>2</a:t>
            </a:r>
          </a:p>
        </p:txBody>
      </p:sp>
      <p:sp>
        <p:nvSpPr>
          <p:cNvPr id="42" name="Rectángulo 41">
            <a:extLst xmlns:a="http://schemas.openxmlformats.org/drawingml/2006/main">
              <a:ext uri="{FF2B5EF4-FFF2-40B4-BE49-F238E27FC236}">
                <a16:creationId xmlns:a16="http://schemas.microsoft.com/office/drawing/2014/main" id="{F020ADD9-5AB7-414B-8E52-3E457DDF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6863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5A524"/>
                </a:solidFill>
              </a:defRPr>
            </a:pPr>
            <a:r>
              <a:rPr sz="1650" b="1">
                <a:solidFill>
                  <a:srgbClr val="F5A524"/>
                </a:solidFill>
              </a:rPr>
              <a:t>3</a:t>
            </a:r>
          </a:p>
        </p:txBody>
      </p:sp>
      <p:sp>
        <p:nvSpPr>
          <p:cNvPr id="43" name="Rectángulo 42">
            <a:extLst xmlns:a="http://schemas.openxmlformats.org/drawingml/2006/main">
              <a:ext uri="{FF2B5EF4-FFF2-40B4-BE49-F238E27FC236}">
                <a16:creationId xmlns:a16="http://schemas.microsoft.com/office/drawing/2014/main" id="{3E088245-E25F-4B97-B700-9F80F075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673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87184"/>
                </a:solidFill>
              </a:defRPr>
            </a:pPr>
            <a:r>
              <a:rPr sz="1200" b="0">
                <a:solidFill>
                  <a:srgbClr val="587184"/>
                </a:solidFill>
              </a:rPr>
              <a:t>Aprender</a:t>
            </a:r>
          </a:p>
        </p:txBody>
      </p:sp>
      <p:sp>
        <p:nvSpPr>
          <p:cNvPr id="44" name="Rectángulo 43">
            <a:extLst xmlns:a="http://schemas.openxmlformats.org/drawingml/2006/main">
              <a:ext uri="{FF2B5EF4-FFF2-40B4-BE49-F238E27FC236}">
                <a16:creationId xmlns:a16="http://schemas.microsoft.com/office/drawing/2014/main" id="{1B923CBC-4775-410F-90DD-769A5E6C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0673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87184"/>
                </a:solidFill>
              </a:defRPr>
            </a:pPr>
            <a:r>
              <a:rPr sz="1200" b="0">
                <a:solidFill>
                  <a:srgbClr val="587184"/>
                </a:solidFill>
              </a:rPr>
              <a:t>Practicar</a:t>
            </a:r>
          </a:p>
        </p:txBody>
      </p:sp>
      <p:sp>
        <p:nvSpPr>
          <p:cNvPr id="45" name="Rectángulo 44">
            <a:extLst xmlns:a="http://schemas.openxmlformats.org/drawingml/2006/main">
              <a:ext uri="{FF2B5EF4-FFF2-40B4-BE49-F238E27FC236}">
                <a16:creationId xmlns:a16="http://schemas.microsoft.com/office/drawing/2014/main" id="{368AE17A-2781-40DD-A774-BA0BE2740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067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87184"/>
                </a:solidFill>
              </a:defRPr>
            </a:pPr>
            <a:r>
              <a:rPr sz="1200" b="0">
                <a:solidFill>
                  <a:srgbClr val="587184"/>
                </a:solidFill>
              </a:rPr>
              <a:t>Crear</a:t>
            </a:r>
          </a:p>
        </p:txBody>
      </p:sp>
      <p:sp>
        <p:nvSpPr>
          <p:cNvPr id="46" name="Rectángulo 45">
            <a:extLst xmlns:a="http://schemas.openxmlformats.org/drawingml/2006/main">
              <a:ext uri="{FF2B5EF4-FFF2-40B4-BE49-F238E27FC236}">
                <a16:creationId xmlns:a16="http://schemas.microsoft.com/office/drawing/2014/main" id="{644E44CC-E80F-49A6-9A6A-2E92091A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87184"/>
                </a:solidFill>
              </a:defRPr>
            </a:pPr>
            <a:r>
              <a:rPr sz="900" b="0">
                <a:solidFill>
                  <a:srgbClr val="587184"/>
                </a:solidFill>
              </a:rPr>
              <a:t>Informática · 2.º ESO · 2026–2027</a:t>
            </a:r>
          </a:p>
        </p:txBody>
      </p:sp>
      <p:sp>
        <p:nvSpPr>
          <p:cNvPr id="47" name="Rectángulo 46">
            <a:extLst xmlns:a="http://schemas.openxmlformats.org/drawingml/2006/main">
              <a:ext uri="{FF2B5EF4-FFF2-40B4-BE49-F238E27FC236}">
                <a16:creationId xmlns:a16="http://schemas.microsoft.com/office/drawing/2014/main" id="{C31946A1-F21D-48A9-A44D-13DA6F0BE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87184"/>
                </a:solidFill>
              </a:defRPr>
            </a:pPr>
            <a:r>
              <a:rPr sz="900" b="1">
                <a:solidFill>
                  <a:srgbClr val="587184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403025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9842A0C3-34DD-40C8-A97E-0476573E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A84C6"/>
                </a:solidFill>
              </a:defRPr>
            </a:pPr>
            <a:r>
              <a:rPr sz="1050" b="1">
                <a:solidFill>
                  <a:srgbClr val="0A84C6"/>
                </a:solidFill>
              </a:rPr>
              <a:t>05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EA50DF9C-1E22-4684-8D84-572AD7F5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63A"/>
                </a:solidFill>
              </a:defRPr>
            </a:pPr>
            <a:r>
              <a:rPr sz="2700" b="1">
                <a:solidFill>
                  <a:srgbClr val="10263A"/>
                </a:solidFill>
              </a:rPr>
              <a:t>El método de trabajo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69BEF98E-6BC3-4024-9F70-3A74728A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7184"/>
                </a:solidFill>
              </a:defRPr>
            </a:pPr>
            <a:r>
              <a:rPr sz="1350" b="0">
                <a:solidFill>
                  <a:srgbClr val="587184"/>
                </a:solidFill>
              </a:rPr>
              <a:t>El progreso queda reflejado en archivos, decisiones, pruebas y mejoras.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BE5DCA9E-9776-4A52-B43B-92972214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ectángulo: esquinas redondeadas 4">
            <a:extLst xmlns:a="http://schemas.openxmlformats.org/drawingml/2006/main">
              <a:ext uri="{FF2B5EF4-FFF2-40B4-BE49-F238E27FC236}">
                <a16:creationId xmlns:a16="http://schemas.microsoft.com/office/drawing/2014/main" id="{E29AD18B-5901-49E9-8FEA-4CF91CE9E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A8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B512B042-615C-4CAA-BF88-78286A2D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583A8E59-436A-4537-A690-0202EA6E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81300"/>
            <a:ext cx="1238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5955DE8C-9E4D-4527-A864-7F3CA642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480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263A"/>
                </a:solidFill>
              </a:defRPr>
            </a:pPr>
            <a:r>
              <a:rPr sz="1350" b="1">
                <a:solidFill>
                  <a:srgbClr val="10263A"/>
                </a:solidFill>
              </a:rPr>
              <a:t>ENTENDER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4884CA03-6D84-4E4A-B82F-262409CC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290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87184"/>
                </a:solidFill>
              </a:defRPr>
            </a:pPr>
            <a:r>
              <a:rPr sz="1200" b="0">
                <a:solidFill>
                  <a:srgbClr val="587184"/>
                </a:solidFill>
              </a:rPr>
              <a:t>Leer el reto y preguntar dudas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994BCFB4-B30C-47D5-A635-07D41211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5745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A8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396B4987-6D82-40B2-AD10-B44C2EBF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5745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C939C591-334E-4D9A-9636-5C7398E2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81300"/>
            <a:ext cx="1238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4497C695-B168-43DF-93ED-057C969D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4480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263A"/>
                </a:solidFill>
              </a:defRPr>
            </a:pPr>
            <a:r>
              <a:rPr sz="1350" b="1">
                <a:solidFill>
                  <a:srgbClr val="10263A"/>
                </a:solidFill>
              </a:rPr>
              <a:t>PLANIFICAR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4B7D0D14-C9CC-4D0C-BA92-7C4204BD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290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87184"/>
                </a:solidFill>
              </a:defRPr>
            </a:pPr>
            <a:r>
              <a:rPr sz="1200" b="0">
                <a:solidFill>
                  <a:srgbClr val="587184"/>
                </a:solidFill>
              </a:rPr>
              <a:t>Ordenar carpetas y repartir tareas</a:t>
            </a:r>
          </a:p>
        </p:txBody>
      </p:sp>
      <p:sp>
        <p:nvSpPr>
          <p:cNvPr id="15" name="Rectángulo: esquinas redondeadas 14">
            <a:extLst xmlns:a="http://schemas.openxmlformats.org/drawingml/2006/main">
              <a:ext uri="{FF2B5EF4-FFF2-40B4-BE49-F238E27FC236}">
                <a16:creationId xmlns:a16="http://schemas.microsoft.com/office/drawing/2014/main" id="{278D4013-44E1-40CA-A36B-2CBB9CAA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5745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A8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59D9CF43-B453-46DD-ABBE-B118851A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5745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DAD70E8D-4C3E-4D92-BC57-FD5D90FD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781300"/>
            <a:ext cx="1238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4CE0A6CB-5FA8-4C44-B02A-8AB34C98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4480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263A"/>
                </a:solidFill>
              </a:defRPr>
            </a:pPr>
            <a:r>
              <a:rPr sz="1350" b="1">
                <a:solidFill>
                  <a:srgbClr val="10263A"/>
                </a:solidFill>
              </a:rPr>
              <a:t>CONSTRUIR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86990F18-A354-4D37-ADA2-1E5A7C91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290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87184"/>
                </a:solidFill>
              </a:defRPr>
            </a:pPr>
            <a:r>
              <a:rPr sz="1200" b="0">
                <a:solidFill>
                  <a:srgbClr val="587184"/>
                </a:solidFill>
              </a:rPr>
              <a:t>Crear una primera versión</a:t>
            </a:r>
          </a:p>
        </p:txBody>
      </p:sp>
      <p:sp>
        <p:nvSpPr>
          <p:cNvPr id="20" name="Rectángulo: esquinas redondeadas 19">
            <a:extLst xmlns:a="http://schemas.openxmlformats.org/drawingml/2006/main">
              <a:ext uri="{FF2B5EF4-FFF2-40B4-BE49-F238E27FC236}">
                <a16:creationId xmlns:a16="http://schemas.microsoft.com/office/drawing/2014/main" id="{E2E607E4-5B5C-4802-9CB3-3F7F0ACF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5745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A8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711A0D10-3FBD-4F36-A5CF-BFC21538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5745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38F4C9FF-17C9-4A6D-99EF-10948715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1238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E6A71C4C-BE5E-476F-8B1E-FBA8CB9F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4480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263A"/>
                </a:solidFill>
              </a:defRPr>
            </a:pPr>
            <a:r>
              <a:rPr sz="1350" b="1">
                <a:solidFill>
                  <a:srgbClr val="10263A"/>
                </a:solidFill>
              </a:rPr>
              <a:t>COMPROBAR</a:t>
            </a:r>
          </a:p>
        </p:txBody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96EEECD3-7633-42FE-9453-92625347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8290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87184"/>
                </a:solidFill>
              </a:defRPr>
            </a:pPr>
            <a:r>
              <a:rPr sz="1200" b="0">
                <a:solidFill>
                  <a:srgbClr val="587184"/>
                </a:solidFill>
              </a:rPr>
              <a:t>Probar y localizar errores</a:t>
            </a:r>
          </a:p>
        </p:txBody>
      </p:sp>
      <p:sp>
        <p:nvSpPr>
          <p:cNvPr id="25" name="Rectángulo: esquinas redondeadas 24">
            <a:extLst xmlns:a="http://schemas.openxmlformats.org/drawingml/2006/main">
              <a:ext uri="{FF2B5EF4-FFF2-40B4-BE49-F238E27FC236}">
                <a16:creationId xmlns:a16="http://schemas.microsoft.com/office/drawing/2014/main" id="{AC08CD89-2872-4CF6-A162-3AA2BE02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5745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5A5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Rectángulo 25">
            <a:extLst xmlns:a="http://schemas.openxmlformats.org/drawingml/2006/main">
              <a:ext uri="{FF2B5EF4-FFF2-40B4-BE49-F238E27FC236}">
                <a16:creationId xmlns:a16="http://schemas.microsoft.com/office/drawing/2014/main" id="{EE99616E-34E0-47E5-8861-53F94984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5745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3DA0591B-1727-4192-9580-129A7141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4480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263A"/>
                </a:solidFill>
              </a:defRPr>
            </a:pPr>
            <a:r>
              <a:rPr sz="1350" b="1">
                <a:solidFill>
                  <a:srgbClr val="10263A"/>
                </a:solidFill>
              </a:rPr>
              <a:t>MEJORAR</a:t>
            </a:r>
          </a:p>
        </p:txBody>
      </p:sp>
      <p:sp>
        <p:nvSpPr>
          <p:cNvPr id="28" name="Rectángulo 27">
            <a:extLst xmlns:a="http://schemas.openxmlformats.org/drawingml/2006/main">
              <a:ext uri="{FF2B5EF4-FFF2-40B4-BE49-F238E27FC236}">
                <a16:creationId xmlns:a16="http://schemas.microsoft.com/office/drawing/2014/main" id="{FA48AD4F-9AE0-47A7-BA22-5E4BD891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8290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87184"/>
                </a:solidFill>
              </a:defRPr>
            </a:pPr>
            <a:r>
              <a:rPr sz="1200" b="0">
                <a:solidFill>
                  <a:srgbClr val="587184"/>
                </a:solidFill>
              </a:rPr>
              <a:t>Aplicar comentarios antes de entregar</a:t>
            </a:r>
          </a:p>
        </p:txBody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DA92D97C-A6F1-4DA0-8A02-AF8D9F99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1970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A84C6"/>
                </a:solidFill>
              </a:defRPr>
            </a:pPr>
            <a:r>
              <a:rPr sz="2100" b="1">
                <a:solidFill>
                  <a:srgbClr val="0A84C6"/>
                </a:solidFill>
              </a:rPr>
              <a:t>Las versiones muestran el proceso y forman parte del aprendizaje.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1E44F85C-7783-4AB2-B955-56510704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87184"/>
                </a:solidFill>
              </a:defRPr>
            </a:pPr>
            <a:r>
              <a:rPr sz="900" b="0">
                <a:solidFill>
                  <a:srgbClr val="587184"/>
                </a:solidFill>
              </a:rPr>
              <a:t>Informática · 2.º ESO · 2026–2027</a:t>
            </a:r>
          </a:p>
        </p:txBody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FB30A2D7-9312-4AFB-B9B8-4378BA9B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87184"/>
                </a:solidFill>
              </a:defRPr>
            </a:pPr>
            <a:r>
              <a:rPr sz="900" b="1">
                <a:solidFill>
                  <a:srgbClr val="587184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941847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FB3953C3-085E-4E99-984F-8E16B032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C7E8"/>
                </a:solidFill>
              </a:defRPr>
            </a:pPr>
            <a:r>
              <a:rPr sz="1050" b="1">
                <a:solidFill>
                  <a:srgbClr val="22C7E8"/>
                </a:solidFill>
              </a:rPr>
              <a:t>06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955B4B09-E574-425E-9619-BAA6EC44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Herramientas que utilizaremos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599614AD-56F7-4CC7-BD16-B2630EF64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5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7" name="Imagen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85f8b1aa654120"/>
          <a:stretch xmlns:a="http://schemas.openxmlformats.org/drawingml/2006/main"/>
        </p:blipFill>
        <p:spPr>
          <a:xfrm xmlns:a="http://schemas.openxmlformats.org/drawingml/2006/main">
            <a:off x="609600" y="2127250"/>
            <a:ext cx="5048250" cy="3365500"/>
          </a:xfrm>
          <a:prstGeom xmlns:a="http://schemas.openxmlformats.org/drawingml/2006/main" prst="rect">
            <a:avLst/>
          </a:prstGeom>
        </p:spPr>
      </p:pic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6682027A-E596-4761-A3CB-834D2919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2C7E8"/>
                </a:solidFill>
              </a:defRPr>
            </a:pPr>
            <a:r>
              <a:rPr sz="1425" b="1">
                <a:solidFill>
                  <a:srgbClr val="22C7E8"/>
                </a:solidFill>
              </a:rPr>
              <a:t>Archivos y nube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2BC0736A-3ECB-4510-98F8-08D8546A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Carpetas, versiones y permisos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41164B48-205C-4F4C-AB46-28E60EEB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24125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AF230522-165F-44CC-916C-83091F5A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432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2C7E8"/>
                </a:solidFill>
              </a:defRPr>
            </a:pPr>
            <a:r>
              <a:rPr sz="1425" b="1">
                <a:solidFill>
                  <a:srgbClr val="22C7E8"/>
                </a:solidFill>
              </a:rPr>
              <a:t>Documentos y datos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D1A622CE-13DA-4A6C-AD04-3AEF8217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432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Textos, hojas de cálculo y gráficos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6A8F59E9-D7A3-4608-8F49-4ABBA549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7075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3A682CB1-1B03-40B6-8D03-1596C29C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861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2C7E8"/>
                </a:solidFill>
              </a:defRPr>
            </a:pPr>
            <a:r>
              <a:rPr sz="1425" b="1">
                <a:solidFill>
                  <a:srgbClr val="22C7E8"/>
                </a:solidFill>
              </a:rPr>
              <a:t>Multimedia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3EA5A419-FDEC-400D-81AE-C3751C69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861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Imagen, audio y vídeo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AA6C2EAE-EC1A-47B5-9DDF-24A72708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10025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9F6274FE-09DF-44C1-A1BF-D68239B2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291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2C7E8"/>
                </a:solidFill>
              </a:defRPr>
            </a:pPr>
            <a:r>
              <a:rPr sz="1425" b="1">
                <a:solidFill>
                  <a:srgbClr val="22C7E8"/>
                </a:solidFill>
              </a:rPr>
              <a:t>Programación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496B6042-7EC6-4351-A4E7-8C38006D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291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Bloques, algoritmos y páginas web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27448DDB-0165-4BF5-9485-A2425824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52975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D6C85377-AAE8-4B0C-83E4-9ACA70F8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720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5A524"/>
                </a:solidFill>
              </a:defRPr>
            </a:pPr>
            <a:r>
              <a:rPr sz="1425" b="1">
                <a:solidFill>
                  <a:srgbClr val="F5A524"/>
                </a:solidFill>
              </a:rPr>
              <a:t>Aules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71606975-DBA7-41C2-AD27-449AA5EA1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720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Instrucciones, plantillas y entregas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E1B5BBDF-2514-4196-8E62-A2713DDE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95925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7CC5D419-261F-4CC5-9CD9-3D67368F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BC5D7"/>
                </a:solidFill>
              </a:defRPr>
            </a:pPr>
            <a:r>
              <a:rPr sz="900" b="0">
                <a:solidFill>
                  <a:srgbClr val="9BC5D7"/>
                </a:solidFill>
              </a:rPr>
              <a:t>Informática · 2.º ESO · 2026–2027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D4B8CCB4-DA6F-4097-9A89-222D1DE9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BC5D7"/>
                </a:solidFill>
              </a:defRPr>
            </a:pPr>
            <a:r>
              <a:rPr sz="900" b="1">
                <a:solidFill>
                  <a:srgbClr val="9BC5D7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584098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C2259E58-1B23-4864-AE8B-D83EC1F8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A84C6"/>
                </a:solidFill>
              </a:defRPr>
            </a:pPr>
            <a:r>
              <a:rPr sz="1050" b="1">
                <a:solidFill>
                  <a:srgbClr val="0A84C6"/>
                </a:solidFill>
              </a:rPr>
              <a:t>07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CE4A0288-D17B-41E9-9C68-F2E9E66F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63A"/>
                </a:solidFill>
              </a:defRPr>
            </a:pPr>
            <a:r>
              <a:rPr sz="2700" b="1">
                <a:solidFill>
                  <a:srgbClr val="10263A"/>
                </a:solidFill>
              </a:rPr>
              <a:t>La evaluación de la primera unidad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638012F2-3BBD-4110-AED0-B0B7F74B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7184"/>
                </a:solidFill>
              </a:defRPr>
            </a:pPr>
            <a:r>
              <a:rPr sz="1350" b="0">
                <a:solidFill>
                  <a:srgbClr val="587184"/>
                </a:solidFill>
              </a:rPr>
              <a:t>La nota procede del trabajo realizado y de la capacidad para explicar y mejorar el resultado.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5DFDB26B-7755-4676-B1CE-92327A5D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3AB5D033-98AE-4A58-BFDA-F31AF71A2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71700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0A84C6"/>
                </a:solidFill>
              </a:defRPr>
            </a:pPr>
            <a:r>
              <a:rPr sz="5250" b="1">
                <a:solidFill>
                  <a:srgbClr val="0A84C6"/>
                </a:solidFill>
              </a:rPr>
              <a:t>60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6AD10AC4-BB95-47B7-B772-52BABFD2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66950"/>
            <a:ext cx="666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0A84C6"/>
                </a:solidFill>
              </a:defRPr>
            </a:pPr>
            <a:r>
              <a:rPr sz="2850" b="1">
                <a:solidFill>
                  <a:srgbClr val="0A84C6"/>
                </a:solidFill>
              </a:rPr>
              <a:t>%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CDA84965-7522-4B19-B281-448ACE43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62375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F5A524"/>
                </a:solidFill>
              </a:defRPr>
            </a:pPr>
            <a:r>
              <a:rPr sz="5250" b="1">
                <a:solidFill>
                  <a:srgbClr val="F5A524"/>
                </a:solidFill>
              </a:rPr>
              <a:t>40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767D45D6-65B7-410E-A22B-7D49C231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57625"/>
            <a:ext cx="666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F5A524"/>
                </a:solidFill>
              </a:defRPr>
            </a:pPr>
            <a:r>
              <a:rPr sz="2850" b="1">
                <a:solidFill>
                  <a:srgbClr val="F5A524"/>
                </a:solidFill>
              </a:rPr>
              <a:t>%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FB2F38B8-B10D-4A25-9C42-1F59231A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8125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5B8C79D6-6BB9-4A1B-BD20-5D32E687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81250"/>
            <a:ext cx="2057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5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19200366-C4CF-481A-AE53-FE8F521EE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95625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63A"/>
                </a:solidFill>
              </a:defRPr>
            </a:pPr>
            <a:r>
              <a:rPr sz="1650" b="1">
                <a:solidFill>
                  <a:srgbClr val="10263A"/>
                </a:solidFill>
              </a:rPr>
              <a:t>Seis actividades breves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036E052A-ACC1-43BC-874F-33CDC74F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57625"/>
            <a:ext cx="2057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5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05E62021-B8E3-4508-A779-EE991E30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57200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63A"/>
                </a:solidFill>
              </a:defRPr>
            </a:pPr>
            <a:r>
              <a:rPr sz="1650" b="1">
                <a:solidFill>
                  <a:srgbClr val="10263A"/>
                </a:solidFill>
              </a:rPr>
              <a:t>Proyecto final de la UD1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D112C94A-89F7-49F2-AA77-62AC4962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2863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45C5C"/>
                </a:solidFill>
              </a:defRPr>
            </a:pPr>
            <a:r>
              <a:rPr sz="1650" b="1">
                <a:solidFill>
                  <a:srgbClr val="E45C5C"/>
                </a:solidFill>
              </a:rPr>
              <a:t>No habrá examen tradicional. Todas las evidencias se entregan en Aules.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E902D0B3-CC3F-4BAF-B7CD-E076F620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87184"/>
                </a:solidFill>
              </a:defRPr>
            </a:pPr>
            <a:r>
              <a:rPr sz="900" b="0">
                <a:solidFill>
                  <a:srgbClr val="587184"/>
                </a:solidFill>
              </a:rPr>
              <a:t>Informática · 2.º ESO · 2026–2027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9A168CB7-B4FD-4BBD-B834-F0B70B5F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87184"/>
                </a:solidFill>
              </a:defRPr>
            </a:pPr>
            <a:r>
              <a:rPr sz="900" b="1">
                <a:solidFill>
                  <a:srgbClr val="587184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394546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ECCB4A3C-7EDB-41B9-8197-305F7678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A84C6"/>
                </a:solidFill>
              </a:defRPr>
            </a:pPr>
            <a:r>
              <a:rPr sz="1050" b="1">
                <a:solidFill>
                  <a:srgbClr val="0A84C6"/>
                </a:solidFill>
              </a:rPr>
              <a:t>08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3029AB32-C71C-42FF-B71B-0674B039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63A"/>
                </a:solidFill>
              </a:defRPr>
            </a:pPr>
            <a:r>
              <a:rPr sz="2700" b="1">
                <a:solidFill>
                  <a:srgbClr val="10263A"/>
                </a:solidFill>
              </a:rPr>
              <a:t>Entregar correctamente también forma parte del trabajo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05246026-32CC-4BC9-8720-A0C1FD715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7184"/>
                </a:solidFill>
              </a:defRPr>
            </a:pPr>
            <a:r>
              <a:rPr sz="1350" b="0">
                <a:solidFill>
                  <a:srgbClr val="587184"/>
                </a:solidFill>
              </a:rPr>
              <a:t>Tres comprobaciones evitan la mayoría de los problemas en Aules.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3A9AF91D-B234-4E9D-BE0F-83E1A246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3B55AB90-FA28-405D-9D25-CC908334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0A84C6"/>
                </a:solidFill>
              </a:defRPr>
            </a:pPr>
            <a:r>
              <a:rPr sz="3900" b="1">
                <a:solidFill>
                  <a:srgbClr val="0A84C6"/>
                </a:solidFill>
              </a:rPr>
              <a:t>1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47DB8830-D175-4D24-A8EF-5165480F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257550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CB19EAE9-74EF-496E-AE6C-AB59E0F1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263A"/>
                </a:solidFill>
              </a:defRPr>
            </a:pPr>
            <a:r>
              <a:rPr sz="1650" b="1">
                <a:solidFill>
                  <a:srgbClr val="10263A"/>
                </a:solidFill>
              </a:rPr>
              <a:t>NOMBRE CORRECTO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AA170F6A-43AC-4E40-84A8-7BC7501E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95750"/>
            <a:ext cx="276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87184"/>
                </a:solidFill>
              </a:defRPr>
            </a:pPr>
            <a:r>
              <a:rPr sz="1350" b="0">
                <a:solidFill>
                  <a:srgbClr val="587184"/>
                </a:solidFill>
              </a:rPr>
              <a:t>Curso, unidad, actividad, nombre y versión.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E51AFDF3-02DB-4AA5-BA88-B65C13CC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33625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0A84C6"/>
                </a:solidFill>
              </a:defRPr>
            </a:pPr>
            <a:r>
              <a:rPr sz="3900" b="1">
                <a:solidFill>
                  <a:srgbClr val="0A84C6"/>
                </a:solidFill>
              </a:rPr>
              <a:t>2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510973A0-0DF6-4638-8E76-1D33A1C5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257550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28FBAD15-61B3-4A7B-8C3C-9F4C57F5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242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263A"/>
                </a:solidFill>
              </a:defRPr>
            </a:pPr>
            <a:r>
              <a:rPr sz="1650" b="1">
                <a:solidFill>
                  <a:srgbClr val="10263A"/>
                </a:solidFill>
              </a:rPr>
              <a:t>ARCHIVO O ENLACE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9C5CC993-F15D-45BF-917A-A42BD88B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095750"/>
            <a:ext cx="276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87184"/>
                </a:solidFill>
              </a:defRPr>
            </a:pPr>
            <a:r>
              <a:rPr sz="1350" b="0">
                <a:solidFill>
                  <a:srgbClr val="587184"/>
                </a:solidFill>
              </a:rPr>
              <a:t>El formato y el permiso deben coincidir con la tarea.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7D29492E-DEA8-4702-8565-888BCBAE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33625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F5A524"/>
                </a:solidFill>
              </a:defRPr>
            </a:pPr>
            <a:r>
              <a:rPr sz="3900" b="1">
                <a:solidFill>
                  <a:srgbClr val="F5A524"/>
                </a:solidFill>
              </a:rPr>
              <a:t>3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35F16910-0A8A-4588-8C67-60C1939BE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257550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5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DF9AD6CE-982E-4B9C-92F1-99EF7606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242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263A"/>
                </a:solidFill>
              </a:defRPr>
            </a:pPr>
            <a:r>
              <a:rPr sz="1650" b="1">
                <a:solidFill>
                  <a:srgbClr val="10263A"/>
                </a:solidFill>
              </a:rPr>
              <a:t>ENVÍO CONFIRMADO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461A7592-5816-43D4-8B23-CFF124C2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095750"/>
            <a:ext cx="276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87184"/>
                </a:solidFill>
              </a:defRPr>
            </a:pPr>
            <a:r>
              <a:rPr sz="1350" b="0">
                <a:solidFill>
                  <a:srgbClr val="587184"/>
                </a:solidFill>
              </a:rPr>
              <a:t>La tarea debe figurar como enviada, no como borrador.</a:t>
            </a:r>
          </a:p>
        </p:txBody>
      </p:sp>
      <p:sp>
        <p:nvSpPr>
          <p:cNvPr id="17" name="Rectángulo: esquinas redondeadas 16">
            <a:extLst xmlns:a="http://schemas.openxmlformats.org/drawingml/2006/main">
              <a:ext uri="{FF2B5EF4-FFF2-40B4-BE49-F238E27FC236}">
                <a16:creationId xmlns:a16="http://schemas.microsoft.com/office/drawing/2014/main" id="{4A282AA1-7087-4D79-B973-D020AAD8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86375"/>
            <a:ext cx="10477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79F0FD7D-3F1D-42A0-9DE8-916C26DD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62575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0263A"/>
                </a:solidFill>
              </a:defRPr>
            </a:pPr>
            <a:r>
              <a:rPr sz="1425" b="1">
                <a:solidFill>
                  <a:srgbClr val="10263A"/>
                </a:solidFill>
              </a:rPr>
              <a:t>Conserva siempre tu copia hasta recibir la calificación.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8EE311C1-1029-4E19-9F49-B6E5ED3B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87184"/>
                </a:solidFill>
              </a:defRPr>
            </a:pPr>
            <a:r>
              <a:rPr sz="900" b="0">
                <a:solidFill>
                  <a:srgbClr val="587184"/>
                </a:solidFill>
              </a:rPr>
              <a:t>Informática · 2.º ESO · 2026–2027</a:t>
            </a:r>
          </a:p>
        </p:txBody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405FB3CF-CC10-4B2C-B807-80F103E4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87184"/>
                </a:solidFill>
              </a:defRPr>
            </a:pPr>
            <a:r>
              <a:rPr sz="900" b="1">
                <a:solidFill>
                  <a:srgbClr val="587184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026001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02787210-8F85-45A2-AA0D-4FD217EC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C7E8"/>
                </a:solidFill>
              </a:defRPr>
            </a:pPr>
            <a:r>
              <a:rPr sz="1050" b="1">
                <a:solidFill>
                  <a:srgbClr val="22C7E8"/>
                </a:solidFill>
              </a:rPr>
              <a:t>09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1A4578A1-6D76-488E-94B8-DBF685466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La responsabilidad digital está presente en todas las unidades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7EBE4967-A310-490C-AA31-97CBFCFD7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9D7E4"/>
                </a:solidFill>
              </a:defRPr>
            </a:pPr>
            <a:r>
              <a:rPr sz="1350" b="0">
                <a:solidFill>
                  <a:srgbClr val="B9D7E4"/>
                </a:solidFill>
              </a:rPr>
              <a:t>Privacidad, respeto y autoría forman parte de la calidad del trabajo.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2669A9C7-4D5E-43BC-863B-21089113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5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9734E7E7-6AAE-46B7-85B9-A07BABC7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5A524"/>
                </a:solidFill>
              </a:defRPr>
            </a:pPr>
            <a:r>
              <a:rPr sz="1875" b="1">
                <a:solidFill>
                  <a:srgbClr val="F5A524"/>
                </a:solidFill>
              </a:rPr>
              <a:t>01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D7DFF579-8C60-4A03-989F-5E0EC6A79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431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2C7E8"/>
                </a:solidFill>
              </a:defRPr>
            </a:pPr>
            <a:r>
              <a:rPr sz="1500" b="1">
                <a:solidFill>
                  <a:srgbClr val="22C7E8"/>
                </a:solidFill>
              </a:rPr>
              <a:t>DATOS PERSONALES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D61F803B-8A3B-479D-87BD-BA1A04BE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4312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Compartimos únicamente la información necesaria.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CA63D84D-B975-4C03-9EA5-825528017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9557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DB886226-A7C7-4BC9-8BA7-850A2C569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194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5A524"/>
                </a:solidFill>
              </a:defRPr>
            </a:pPr>
            <a:r>
              <a:rPr sz="1875" b="1">
                <a:solidFill>
                  <a:srgbClr val="F5A524"/>
                </a:solidFill>
              </a:rPr>
              <a:t>02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4C928136-1A00-4CBB-A8DA-CC0C7BAA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194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2C7E8"/>
                </a:solidFill>
              </a:defRPr>
            </a:pPr>
            <a:r>
              <a:rPr sz="1500" b="1">
                <a:solidFill>
                  <a:srgbClr val="22C7E8"/>
                </a:solidFill>
              </a:rPr>
              <a:t>PERMISOS</a:t>
            </a:r>
          </a:p>
        </p:txBody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1C5FA5CE-C6E5-4663-B709-C98DFD90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01942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Cada persona recibe el acceso que necesita.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F47D3831-16B4-40AC-BF5C-6529BF14F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57187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4A59A956-8714-4751-9CCC-AA1D3018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957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5A524"/>
                </a:solidFill>
              </a:defRPr>
            </a:pPr>
            <a:r>
              <a:rPr sz="1875" b="1">
                <a:solidFill>
                  <a:srgbClr val="F5A524"/>
                </a:solidFill>
              </a:rPr>
              <a:t>03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52B561A5-1B18-46A0-AADE-8DF379A8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8957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2C7E8"/>
                </a:solidFill>
              </a:defRPr>
            </a:pPr>
            <a:r>
              <a:rPr sz="1500" b="1">
                <a:solidFill>
                  <a:srgbClr val="22C7E8"/>
                </a:solidFill>
              </a:rPr>
              <a:t>AUTORÍA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9F00738B-617A-42A4-AF8D-079C3F1D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89572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Identificamos fuentes, imágenes y recursos ajenos.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26F6312F-0AA4-4642-B711-6922506B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44817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7194058C-81DD-47AA-8E9D-61D5683A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720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5A524"/>
                </a:solidFill>
              </a:defRPr>
            </a:pPr>
            <a:r>
              <a:rPr sz="1875" b="1">
                <a:solidFill>
                  <a:srgbClr val="F5A524"/>
                </a:solidFill>
              </a:rPr>
              <a:t>04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C6B96D10-AE4B-4F2B-A6F2-6D56D6D7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7720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2C7E8"/>
                </a:solidFill>
              </a:defRPr>
            </a:pPr>
            <a:r>
              <a:rPr sz="1500" b="1">
                <a:solidFill>
                  <a:srgbClr val="22C7E8"/>
                </a:solidFill>
              </a:rPr>
              <a:t>INTELIGENCIA ARTIFICIAL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5AB74551-61FC-4D10-90DD-F5D8129F3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77202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Declaramos su uso y comprobamos sus respuestas.</a:t>
            </a:r>
          </a:p>
        </p:txBody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5DDC78CD-5021-433F-A7F9-093497AD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32447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C4BE5E86-10AD-4A0E-9651-10664B37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BC5D7"/>
                </a:solidFill>
              </a:defRPr>
            </a:pPr>
            <a:r>
              <a:rPr sz="900" b="0">
                <a:solidFill>
                  <a:srgbClr val="9BC5D7"/>
                </a:solidFill>
              </a:rPr>
              <a:t>Informática · 2.º ESO · 2026–2027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E68F87FD-DA4A-47BB-B365-3D52931B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BC5D7"/>
                </a:solidFill>
              </a:defRPr>
            </a:pPr>
            <a:r>
              <a:rPr sz="900" b="1">
                <a:solidFill>
                  <a:srgbClr val="9BC5D7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770910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2026-09-07T13:28:47.1450000Z</dcterms:created>
  <dcterms:modified xsi:type="dcterms:W3CDTF">2026-09-07T13:28:47.1450000Z</dcterms:modified>
</coreProperties>
</file>